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7"/>
  </p:notesMasterIdLst>
  <p:sldIdLst>
    <p:sldId id="256" r:id="rId4"/>
    <p:sldId id="257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D7AC3CCA-C797-4891-BE02-D94E43425B78}">
  <a:tblStyle styleId="{5940675A-B579-460E-94D1-54222C63F5DA}" styleName="No Style, Table Grid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dk1"/>
              </a:solidFill>
            </a:ln>
          </a:left>
          <a:right>
            <a:ln w="12700">
              <a:solidFill>
                <a:schemeClr val="dk1"/>
              </a:solidFill>
            </a:ln>
          </a:right>
          <a:top>
            <a:ln w="12700">
              <a:solidFill>
                <a:schemeClr val="dk1"/>
              </a:solidFill>
            </a:ln>
          </a:top>
          <a:bottom>
            <a:ln w="12700">
              <a:solidFill>
                <a:schemeClr val="dk1"/>
              </a:solidFill>
            </a:ln>
          </a:bottom>
          <a:insideH>
            <a:ln w="12700">
              <a:solidFill>
                <a:schemeClr val="dk1"/>
              </a:solidFill>
            </a:ln>
          </a:insideH>
          <a:insideV>
            <a:ln w="12700">
              <a:solidFill>
                <a:schemeClr val="dk1"/>
              </a:solidFill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lt1"/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lt1"/>
          </a:solidFill>
        </a:fill>
      </a:tcStyle>
    </a:band1V>
    <a:band2V>
      <a:tcStyle>
        <a:tcBdr/>
        <a:fill>
          <a:solidFill>
            <a:schemeClr val="lt1"/>
          </a:solidFill>
        </a:fill>
      </a:tcStyle>
    </a:band2V>
    <a:lastCol>
      <a:tcTxStyle b="on">
        <a:fontRef idx="minor">
          <a:prstClr val="black"/>
        </a:fontRef>
        <a:schemeClr val="dk1"/>
      </a:tcTxStyle>
      <a:tcStyle>
        <a:tcBdr/>
        <a:fill>
          <a:solidFill>
            <a:schemeClr val="lt1"/>
          </a:solidFill>
        </a:fill>
      </a:tcStyle>
    </a:lastCol>
    <a:firstCol>
      <a:tcTxStyle b="on">
        <a:fontRef idx="minor">
          <a:prstClr val="black"/>
        </a:fontRef>
        <a:schemeClr val="dk1"/>
      </a:tcTxStyle>
      <a:tcStyle>
        <a:tcBdr/>
        <a:fill>
          <a:solidFill>
            <a:schemeClr val="lt1"/>
          </a:solidFill>
        </a:fill>
      </a:tcStyle>
    </a:firstCol>
    <a:lastRow>
      <a:tcTxStyle b="on">
        <a:fontRef idx="minor">
          <a:prstClr val="black"/>
        </a:fontRef>
        <a:schemeClr val="dk1"/>
      </a:tcTxStyle>
      <a:tcStyle>
        <a:tcBdr>
          <a:top>
            <a:ln w="12700">
              <a:solidFill>
                <a:schemeClr val="lt1"/>
              </a:solidFill>
            </a:ln>
          </a:top>
        </a:tcBdr>
        <a:fill>
          <a:solidFill>
            <a:schemeClr val="l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dk1"/>
      </a:tcTxStyle>
      <a:tcStyle>
        <a:tcBdr>
          <a:bottom>
            <a:ln w="12700">
              <a:solidFill>
                <a:schemeClr val="dk1"/>
              </a:solidFill>
            </a:ln>
          </a:bottom>
        </a:tcBdr>
        <a:fill>
          <a:solidFill>
            <a:schemeClr val="lt1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D7AC3CCA-C797-4891-BE02-D94E43425B78}" styleName="Medium Style 4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dk1"/>
              </a:solidFill>
            </a:ln>
          </a:left>
          <a:right>
            <a:ln w="12700">
              <a:solidFill>
                <a:schemeClr val="dk1"/>
              </a:solidFill>
            </a:ln>
          </a:right>
          <a:top>
            <a:ln w="12700">
              <a:solidFill>
                <a:schemeClr val="dk1"/>
              </a:solidFill>
            </a:ln>
          </a:top>
          <a:bottom>
            <a:ln w="12700">
              <a:solidFill>
                <a:schemeClr val="dk1"/>
              </a:solidFill>
            </a:ln>
          </a:bottom>
          <a:insideH>
            <a:ln w="12700">
              <a:solidFill>
                <a:schemeClr val="dk1"/>
              </a:solidFill>
            </a:ln>
          </a:insideH>
          <a:insideV>
            <a:ln w="12700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  <a:fill>
          <a:solidFill>
            <a:schemeClr val="dk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dk1"/>
      </a:tcTxStyle>
      <a:tcStyle>
        <a:tcBdr/>
      </a:tcStyle>
    </a:lastCol>
    <a:firstCol>
      <a:tcTxStyle b="on">
        <a:fontRef idx="minor">
          <a:prstClr val="black"/>
        </a:fontRef>
        <a:schemeClr val="dk1"/>
      </a:tcTxStyle>
      <a:tcStyle>
        <a:tcBdr/>
      </a:tcStyle>
    </a:firstCol>
    <a:lastRow>
      <a:tcTxStyle b="on">
        <a:fontRef idx="minor">
          <a:prstClr val="black"/>
        </a:fontRef>
        <a:schemeClr val="dk1"/>
      </a:tcTxStyle>
      <a:tcStyle>
        <a:tcBdr>
          <a:top>
            <a:ln w="38100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dk1"/>
      </a:tcTxStyle>
      <a:tcStyle>
        <a:tcBdr>
          <a:bottom>
            <a:ln w="12700">
              <a:solidFill>
                <a:schemeClr val="dk1"/>
              </a:solidFill>
            </a:ln>
          </a:bottom>
        </a:tcBdr>
        <a:fill>
          <a:solidFill>
            <a:schemeClr val="dk1">
              <a:tint val="20000"/>
            </a:schemeClr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 /><Relationship Id="rId9" Type="http://schemas.openxmlformats.org/officeDocument/2006/relationships/tableStyles" Target="tableStyles.xml" /><Relationship Id="rId10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6004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8248994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689240567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274207372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3135430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5944176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95166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03664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47329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E5F5374-CB03-4532-C0E0-13C541C860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80995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112442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12183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B34EBE0-7924-52C4-0C5F-0830950E81F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35956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9186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13236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09FAF8C-B977-426E-C52E-DDD729D97F7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8338132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09847916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27357605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6084062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5855302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158566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5918118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3174543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7460155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331164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9419000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5551974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2624618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8772706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2693600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033920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1149339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3057176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1826326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437256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2878582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03328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0812177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9727247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50974396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7257178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1689856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503817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74497947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334531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01147692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38526423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9952819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434740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71406470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82294476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453684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94957535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2756892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2875197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7835681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8468580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1066278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16198013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37560398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14097997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2404873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2479914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552657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88267792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5554291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1021800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0622787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3634837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89217039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9192286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2722931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6224349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5317789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416095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9359485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68179578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75083334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7203647" name=""/>
          <p:cNvSpPr txBox="1"/>
          <p:nvPr/>
        </p:nvSpPr>
        <p:spPr bwMode="auto">
          <a:xfrm rot="0" flipH="0" flipV="0">
            <a:off x="2531617" y="308161"/>
            <a:ext cx="6388072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110274398" name=""/>
          <p:cNvSpPr txBox="1"/>
          <p:nvPr/>
        </p:nvSpPr>
        <p:spPr bwMode="auto">
          <a:xfrm rot="0" flipH="0" flipV="0">
            <a:off x="2470784" y="206858"/>
            <a:ext cx="6999861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latin typeface="Times New Roman"/>
                <a:ea typeface="Times New Roman"/>
                <a:cs typeface="Times New Roman"/>
              </a:rPr>
              <a:t>CLIP - </a:t>
            </a:r>
            <a:r>
              <a:rPr lang="en-US" sz="1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Radford et al., OpenAI, ICML 2021  ·  ViT-B/32 configuration</a:t>
            </a:r>
            <a:endParaRPr/>
          </a:p>
        </p:txBody>
      </p:sp>
      <p:pic>
        <p:nvPicPr>
          <p:cNvPr id="22097636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94744" y="980514"/>
            <a:ext cx="1334495" cy="2175808"/>
          </a:xfrm>
          <a:prstGeom prst="rect">
            <a:avLst/>
          </a:prstGeom>
        </p:spPr>
      </p:pic>
      <p:sp>
        <p:nvSpPr>
          <p:cNvPr id="403575619" name=""/>
          <p:cNvSpPr txBox="1"/>
          <p:nvPr/>
        </p:nvSpPr>
        <p:spPr bwMode="auto">
          <a:xfrm rot="0" flipH="0" flipV="0">
            <a:off x="68912" y="4063728"/>
            <a:ext cx="1569688" cy="1402439"/>
          </a:xfrm>
          <a:prstGeom prst="rect">
            <a:avLst/>
          </a:prstGeom>
          <a:noFill/>
          <a:ln w="28575">
            <a:solidFill>
              <a:schemeClr val="bg1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Times New Roman"/>
                <a:ea typeface="Times New Roman"/>
                <a:cs typeface="Times New Roman"/>
              </a:rPr>
              <a:t>“</a:t>
            </a:r>
            <a:r>
              <a:rPr lang="en-US" sz="1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An orange cat on a balcony.</a:t>
            </a:r>
            <a:r>
              <a:rPr sz="1400">
                <a:latin typeface="Times New Roman"/>
                <a:ea typeface="Times New Roman"/>
                <a:cs typeface="Times New Roman"/>
              </a:rPr>
              <a:t>”</a:t>
            </a:r>
            <a:endParaRPr sz="1600"/>
          </a:p>
          <a:p>
            <a:pPr algn="ctr">
              <a:defRPr/>
            </a:pPr>
            <a:r>
              <a:rPr sz="1600"/>
              <a:t>/</a:t>
            </a:r>
            <a:endParaRPr sz="1600"/>
          </a:p>
          <a:p>
            <a:pPr algn="ctr">
              <a:defRPr/>
            </a:pPr>
            <a:r>
              <a:rPr lang="en-US" sz="1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[SOS] </a:t>
            </a:r>
            <a:r>
              <a:rPr lang="en-US" sz="1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An orange cat on a balcony</a:t>
            </a:r>
            <a:r>
              <a:rPr lang="en-US" sz="1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1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[EOS]</a:t>
            </a:r>
            <a:endParaRPr sz="14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72124079" name=""/>
          <p:cNvSpPr txBox="1"/>
          <p:nvPr/>
        </p:nvSpPr>
        <p:spPr bwMode="auto">
          <a:xfrm rot="0" flipH="0" flipV="0">
            <a:off x="68912" y="3207419"/>
            <a:ext cx="1639239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Times New Roman"/>
                <a:ea typeface="Times New Roman"/>
                <a:cs typeface="Times New Roman"/>
              </a:rPr>
              <a:t>224 x 224 x 3</a:t>
            </a:r>
            <a:endParaRPr sz="1600"/>
          </a:p>
        </p:txBody>
      </p:sp>
      <p:sp>
        <p:nvSpPr>
          <p:cNvPr id="312061915" name=""/>
          <p:cNvSpPr/>
          <p:nvPr/>
        </p:nvSpPr>
        <p:spPr bwMode="auto">
          <a:xfrm rot="0" flipH="0" flipV="0">
            <a:off x="1737866" y="1867646"/>
            <a:ext cx="401544" cy="140073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76927732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324129" y="980514"/>
            <a:ext cx="1334495" cy="2175807"/>
          </a:xfrm>
          <a:prstGeom prst="rect">
            <a:avLst/>
          </a:prstGeom>
        </p:spPr>
      </p:pic>
      <p:graphicFrame>
        <p:nvGraphicFramePr>
          <p:cNvPr id="1811027643" name=""/>
          <p:cNvGraphicFramePr>
            <a:graphicFrameLocks xmlns:a="http://schemas.openxmlformats.org/drawingml/2006/main"/>
          </p:cNvGraphicFramePr>
          <p:nvPr/>
        </p:nvGraphicFramePr>
        <p:xfrm rot="0">
          <a:off x="2324129" y="971138"/>
          <a:ext cx="1334495" cy="2194559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{D7AC3CCA-C797-4891-BE02-D94E43425B78}</a:tableStyleId>
              </a:tblPr>
              <a:tblGrid>
                <a:gridCol w="333623"/>
                <a:gridCol w="333623"/>
                <a:gridCol w="333623"/>
                <a:gridCol w="333623"/>
              </a:tblGrid>
              <a:tr h="362634">
                <a:tc>
                  <a:txBody>
                    <a:bodyPr/>
                    <a:p>
                      <a:pPr>
                        <a:defRPr/>
                      </a:pP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62634">
                <a:tc>
                  <a:txBody>
                    <a:bodyPr/>
                    <a:p>
                      <a:pPr>
                        <a:defRPr/>
                      </a:pP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62634">
                <a:tc>
                  <a:txBody>
                    <a:bodyPr/>
                    <a:p>
                      <a:pPr>
                        <a:defRPr/>
                      </a:pP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62634">
                <a:tc>
                  <a:txBody>
                    <a:bodyPr/>
                    <a:p>
                      <a:pPr>
                        <a:defRPr/>
                      </a:pP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62634">
                <a:tc>
                  <a:txBody>
                    <a:bodyPr/>
                    <a:p>
                      <a:pPr>
                        <a:defRPr/>
                      </a:pP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62634">
                <a:tc>
                  <a:txBody>
                    <a:bodyPr/>
                    <a:p>
                      <a:pPr>
                        <a:defRPr/>
                      </a:pP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6218762" name=""/>
          <p:cNvSpPr txBox="1"/>
          <p:nvPr/>
        </p:nvSpPr>
        <p:spPr bwMode="auto">
          <a:xfrm rot="0" flipH="0" flipV="0">
            <a:off x="2139411" y="3207419"/>
            <a:ext cx="1642119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1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Split into 32×32 patches</a:t>
            </a:r>
            <a:endParaRPr sz="1600"/>
          </a:p>
        </p:txBody>
      </p:sp>
      <p:sp>
        <p:nvSpPr>
          <p:cNvPr id="862974739" name=""/>
          <p:cNvSpPr/>
          <p:nvPr/>
        </p:nvSpPr>
        <p:spPr bwMode="auto">
          <a:xfrm rot="0" flipH="0" flipV="0">
            <a:off x="4284217" y="1699558"/>
            <a:ext cx="765735" cy="644338"/>
          </a:xfrm>
          <a:prstGeom prst="cube">
            <a:avLst>
              <a:gd name="adj" fmla="val 25000"/>
            </a:avLst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74903387" name=""/>
          <p:cNvSpPr/>
          <p:nvPr/>
        </p:nvSpPr>
        <p:spPr bwMode="auto">
          <a:xfrm rot="0" flipH="0" flipV="0">
            <a:off x="4436616" y="1851957"/>
            <a:ext cx="765734" cy="644337"/>
          </a:xfrm>
          <a:prstGeom prst="cube">
            <a:avLst>
              <a:gd name="adj" fmla="val 25000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357241" name=""/>
          <p:cNvSpPr/>
          <p:nvPr/>
        </p:nvSpPr>
        <p:spPr bwMode="auto">
          <a:xfrm rot="0" flipH="0" flipV="0">
            <a:off x="4589016" y="2004357"/>
            <a:ext cx="765734" cy="644337"/>
          </a:xfrm>
          <a:prstGeom prst="cube">
            <a:avLst>
              <a:gd name="adj" fmla="val 25000"/>
            </a:avLst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81039373" name=""/>
          <p:cNvSpPr/>
          <p:nvPr/>
        </p:nvSpPr>
        <p:spPr bwMode="auto">
          <a:xfrm rot="0" flipH="0" flipV="0">
            <a:off x="4741416" y="2156757"/>
            <a:ext cx="765734" cy="644337"/>
          </a:xfrm>
          <a:prstGeom prst="cube">
            <a:avLst>
              <a:gd name="adj" fmla="val 25000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55474391" name=""/>
          <p:cNvSpPr/>
          <p:nvPr/>
        </p:nvSpPr>
        <p:spPr bwMode="auto">
          <a:xfrm rot="0" flipH="0" flipV="0">
            <a:off x="3781531" y="1851957"/>
            <a:ext cx="401544" cy="140072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0437835" name=""/>
          <p:cNvSpPr txBox="1"/>
          <p:nvPr/>
        </p:nvSpPr>
        <p:spPr bwMode="auto">
          <a:xfrm rot="0" flipH="0" flipV="0">
            <a:off x="3850125" y="2841479"/>
            <a:ext cx="2399653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1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49 patches</a:t>
            </a:r>
            <a:r>
              <a:rPr lang="en-US" sz="12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>
                <a:latin typeface="Times New Roman"/>
                <a:ea typeface="Times New Roman"/>
                <a:cs typeface="Times New Roman"/>
              </a:rPr>
              <a:t> + [CLS] Token &amp; </a:t>
            </a:r>
            <a:r>
              <a:rPr lang="en-US" sz="1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PosEmb</a:t>
            </a:r>
            <a:r>
              <a:rPr sz="1400"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1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× 768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319942977" name=""/>
          <p:cNvSpPr/>
          <p:nvPr/>
        </p:nvSpPr>
        <p:spPr bwMode="auto">
          <a:xfrm rot="0" flipH="0" flipV="0">
            <a:off x="5895226" y="1876563"/>
            <a:ext cx="401544" cy="140072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452201" name=""/>
          <p:cNvSpPr/>
          <p:nvPr/>
        </p:nvSpPr>
        <p:spPr bwMode="auto">
          <a:xfrm rot="0" flipH="0" flipV="0">
            <a:off x="6450657" y="1307798"/>
            <a:ext cx="1494117" cy="1792941"/>
          </a:xfrm>
          <a:prstGeom prst="flowChartAlternateProcess">
            <a:avLst/>
          </a:prstGeom>
          <a:solidFill>
            <a:schemeClr val="tx1">
              <a:lumMod val="65000"/>
              <a:lumOff val="35000"/>
            </a:schemeClr>
          </a:solidFill>
          <a:ln w="28575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338420172" name=""/>
          <p:cNvSpPr txBox="1"/>
          <p:nvPr/>
        </p:nvSpPr>
        <p:spPr bwMode="auto">
          <a:xfrm rot="0" flipH="0" flipV="0">
            <a:off x="6346134" y="1411607"/>
            <a:ext cx="1708198" cy="1585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14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Multi-Head </a:t>
            </a:r>
            <a:endParaRPr lang="en-US" sz="1400" b="0" i="0" u="none" strike="noStrike" cap="none" spc="0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 algn="ctr">
              <a:defRPr/>
            </a:pPr>
            <a:r>
              <a:rPr lang="en-US" sz="14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Self-Attention</a:t>
            </a:r>
            <a:endParaRPr sz="1400" b="0" i="0" u="none" strike="noStrike" cap="none" spc="0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 algn="ctr">
              <a:defRPr/>
            </a:pPr>
            <a:r>
              <a:rPr sz="1400">
                <a:solidFill>
                  <a:schemeClr val="bg1"/>
                </a:solidFill>
                <a:latin typeface="Cambria Math"/>
                <a:ea typeface="Cambria Math"/>
                <a:cs typeface="Cambria Math"/>
              </a:rPr>
              <a:t>↓</a:t>
            </a:r>
            <a:endParaRPr sz="140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algn="ctr">
              <a:defRPr/>
            </a:pPr>
            <a:r>
              <a:rPr lang="en-US" sz="14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MLP</a:t>
            </a:r>
            <a:endParaRPr sz="1400" b="0" i="0" u="none" strike="noStrike" cap="none" spc="0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 algn="ctr">
              <a:defRPr/>
            </a:pPr>
            <a:r>
              <a:rPr lang="en-US" sz="1400" b="0" i="0" u="none" strike="noStrike" cap="none" spc="0">
                <a:solidFill>
                  <a:schemeClr val="bg1"/>
                </a:solidFill>
                <a:latin typeface="Cambria Math"/>
                <a:ea typeface="Cambria Math"/>
                <a:cs typeface="Cambria Math"/>
              </a:rPr>
              <a:t>↓</a:t>
            </a:r>
            <a:endParaRPr sz="140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algn="ctr">
              <a:defRPr/>
            </a:pPr>
            <a:r>
              <a:rPr lang="en-US" sz="14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LayerNorm </a:t>
            </a:r>
            <a:endParaRPr sz="1400" b="0" i="0" u="none" strike="noStrike" cap="none" spc="0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 algn="ctr">
              <a:defRPr/>
            </a:pPr>
            <a:r>
              <a:rPr lang="en-US" sz="14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(×12 layers)</a:t>
            </a:r>
            <a:endParaRPr sz="140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189119070" name=""/>
          <p:cNvSpPr/>
          <p:nvPr/>
        </p:nvSpPr>
        <p:spPr bwMode="auto">
          <a:xfrm rot="5400000" flipH="0" flipV="0">
            <a:off x="8562851" y="1774611"/>
            <a:ext cx="629771" cy="343974"/>
          </a:xfrm>
          <a:prstGeom prst="cube">
            <a:avLst>
              <a:gd name="adj" fmla="val 25000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1489369" name=""/>
          <p:cNvSpPr txBox="1"/>
          <p:nvPr/>
        </p:nvSpPr>
        <p:spPr bwMode="auto">
          <a:xfrm rot="0" flipH="0" flipV="0">
            <a:off x="8113172" y="2326527"/>
            <a:ext cx="1529129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1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[CLS] </a:t>
            </a:r>
            <a:endParaRPr lang="en-US" sz="1400" b="0" i="0" u="none" strike="noStrike" cap="none" spc="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 algn="ctr">
              <a:defRPr/>
            </a:pPr>
            <a:r>
              <a:rPr lang="en-US" sz="1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Token Extraction</a:t>
            </a:r>
            <a:endParaRPr lang="en-US" sz="1400" b="0" i="0" u="none" strike="noStrike" cap="none" spc="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 algn="ctr">
              <a:defRPr/>
            </a:pPr>
            <a:r>
              <a:rPr lang="en-US" sz="1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1 x 768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64458350" name=""/>
          <p:cNvSpPr/>
          <p:nvPr/>
        </p:nvSpPr>
        <p:spPr bwMode="auto">
          <a:xfrm rot="0" flipH="0" flipV="0">
            <a:off x="8053615" y="1881654"/>
            <a:ext cx="401544" cy="140072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04773507" name=""/>
          <p:cNvSpPr/>
          <p:nvPr/>
        </p:nvSpPr>
        <p:spPr bwMode="auto">
          <a:xfrm rot="0" flipH="0" flipV="0">
            <a:off x="9396639" y="1851957"/>
            <a:ext cx="401544" cy="140072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01371726" name=""/>
          <p:cNvSpPr/>
          <p:nvPr/>
        </p:nvSpPr>
        <p:spPr bwMode="auto">
          <a:xfrm rot="5400000" flipH="0" flipV="0">
            <a:off x="9953500" y="1820043"/>
            <a:ext cx="515469" cy="343974"/>
          </a:xfrm>
          <a:prstGeom prst="cube">
            <a:avLst>
              <a:gd name="adj" fmla="val 25000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5262422" name=""/>
          <p:cNvSpPr txBox="1"/>
          <p:nvPr/>
        </p:nvSpPr>
        <p:spPr bwMode="auto">
          <a:xfrm rot="0" flipH="0" flipV="0">
            <a:off x="9470646" y="2326527"/>
            <a:ext cx="1535968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1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Projection Head </a:t>
            </a:r>
            <a:endParaRPr lang="en-US" sz="1400" b="0" i="0" u="none" strike="noStrike" cap="none" spc="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 algn="ctr">
              <a:defRPr/>
            </a:pPr>
            <a:r>
              <a:rPr lang="en-US" sz="1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·</a:t>
            </a:r>
            <a:r>
              <a:rPr lang="en-US" sz="1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L₂ Norm</a:t>
            </a:r>
            <a:endParaRPr lang="en-US" sz="1400" b="0" i="0" u="none" strike="noStrike" cap="none" spc="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 algn="ctr">
              <a:defRPr/>
            </a:pPr>
            <a:r>
              <a:rPr sz="1400">
                <a:latin typeface="Times New Roman"/>
                <a:cs typeface="Times New Roman"/>
              </a:rPr>
              <a:t>1 x 512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733316629" name=""/>
          <p:cNvSpPr/>
          <p:nvPr/>
        </p:nvSpPr>
        <p:spPr bwMode="auto">
          <a:xfrm rot="0" flipH="0" flipV="0">
            <a:off x="10805843" y="1811618"/>
            <a:ext cx="401544" cy="140072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98994553" name=""/>
          <p:cNvSpPr/>
          <p:nvPr/>
        </p:nvSpPr>
        <p:spPr bwMode="auto">
          <a:xfrm rot="5400000" flipH="0" flipV="0">
            <a:off x="11353674" y="1820043"/>
            <a:ext cx="515469" cy="343974"/>
          </a:xfrm>
          <a:prstGeom prst="cube">
            <a:avLst>
              <a:gd name="adj" fmla="val 25000"/>
            </a:avLst>
          </a:prstGeom>
          <a:solidFill>
            <a:srgbClr val="CF7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8547690" name=""/>
          <p:cNvSpPr txBox="1"/>
          <p:nvPr/>
        </p:nvSpPr>
        <p:spPr bwMode="auto">
          <a:xfrm rot="0" flipH="0" flipV="0">
            <a:off x="11091346" y="2368859"/>
            <a:ext cx="1041565" cy="70031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1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Image </a:t>
            </a:r>
            <a:endParaRPr lang="en-US" sz="1400" b="0" i="0" u="none" strike="noStrike" cap="none" spc="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 algn="ctr">
              <a:defRPr/>
            </a:pPr>
            <a:r>
              <a:rPr lang="en-US" sz="1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Embedding</a:t>
            </a:r>
            <a:endParaRPr lang="en-US" sz="1400" b="0" i="0" u="none" strike="noStrike" cap="none" spc="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 algn="ctr">
              <a:defRPr/>
            </a:pPr>
            <a:r>
              <a:rPr lang="en-US" sz="11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I ∈ ℝ⁵¹² ‖I‖ = 1</a:t>
            </a:r>
            <a:endParaRPr lang="en-US" sz="1100" b="0" i="0" u="none" strike="noStrike" cap="none" spc="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042004228" name=""/>
          <p:cNvSpPr/>
          <p:nvPr/>
        </p:nvSpPr>
        <p:spPr bwMode="auto">
          <a:xfrm rot="0" flipH="0" flipV="0">
            <a:off x="1737866" y="4694912"/>
            <a:ext cx="401544" cy="140072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1548152" name=""/>
          <p:cNvSpPr/>
          <p:nvPr/>
        </p:nvSpPr>
        <p:spPr bwMode="auto">
          <a:xfrm rot="0" flipH="0" flipV="0">
            <a:off x="2287414" y="4409478"/>
            <a:ext cx="1562711" cy="710940"/>
          </a:xfrm>
          <a:prstGeom prst="flowChartAlternateProcess">
            <a:avLst/>
          </a:prstGeom>
          <a:solidFill>
            <a:schemeClr val="tx1">
              <a:lumMod val="65000"/>
              <a:lumOff val="35000"/>
            </a:schemeClr>
          </a:solidFill>
          <a:ln w="28575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1600" b="0" i="0" u="none" strike="noStrike" cap="none" spc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</a:rPr>
              <a:t>BPE Tokenizer</a:t>
            </a:r>
            <a:br>
              <a:rPr sz="1000">
                <a:latin typeface="Times New Roman"/>
                <a:ea typeface="Times New Roman"/>
                <a:cs typeface="Times New Roman"/>
              </a:rPr>
            </a:br>
            <a:r>
              <a:rPr lang="en-US" sz="1000" b="0" i="0" u="none" strike="noStrike" cap="none" spc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</a:rPr>
              <a:t>Byte-Pair Encoding; vocabulary</a:t>
            </a:r>
            <a:r>
              <a:rPr lang="en-US" sz="18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100" b="0" i="0" u="none" strike="noStrike" cap="none" spc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</a:rPr>
              <a:t>size 49,152</a:t>
            </a:r>
            <a:endParaRPr/>
          </a:p>
        </p:txBody>
      </p:sp>
      <p:sp>
        <p:nvSpPr>
          <p:cNvPr id="182026129" name=""/>
          <p:cNvSpPr/>
          <p:nvPr/>
        </p:nvSpPr>
        <p:spPr bwMode="auto">
          <a:xfrm rot="0" flipH="0" flipV="0">
            <a:off x="3982303" y="4624876"/>
            <a:ext cx="401544" cy="140072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22578797" name=""/>
          <p:cNvSpPr/>
          <p:nvPr/>
        </p:nvSpPr>
        <p:spPr bwMode="auto">
          <a:xfrm rot="0" flipH="0" flipV="0">
            <a:off x="4666365" y="4409478"/>
            <a:ext cx="765734" cy="644337"/>
          </a:xfrm>
          <a:prstGeom prst="cube">
            <a:avLst>
              <a:gd name="adj" fmla="val 25000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6720859" name=""/>
          <p:cNvSpPr txBox="1"/>
          <p:nvPr/>
        </p:nvSpPr>
        <p:spPr bwMode="auto">
          <a:xfrm rot="0" flipH="0" flipV="0">
            <a:off x="3848686" y="5120419"/>
            <a:ext cx="240109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1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Token Embedding · PosEmb</a:t>
            </a:r>
            <a:endParaRPr lang="en-US" sz="1400" b="0" i="0" u="none" strike="noStrike" cap="none" spc="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 algn="ctr">
              <a:defRPr/>
            </a:pPr>
            <a:r>
              <a:rPr lang="en-US" sz="1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seq_len × 512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73739617" name=""/>
          <p:cNvSpPr/>
          <p:nvPr/>
        </p:nvSpPr>
        <p:spPr bwMode="auto">
          <a:xfrm rot="0" flipH="0" flipV="0">
            <a:off x="6450657" y="4063728"/>
            <a:ext cx="1494117" cy="1792940"/>
          </a:xfrm>
          <a:prstGeom prst="flowChartAlternateProcess">
            <a:avLst/>
          </a:prstGeom>
          <a:solidFill>
            <a:schemeClr val="tx1">
              <a:lumMod val="65000"/>
              <a:lumOff val="35000"/>
            </a:schemeClr>
          </a:solidFill>
          <a:ln w="28575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398321296" name=""/>
          <p:cNvSpPr txBox="1"/>
          <p:nvPr/>
        </p:nvSpPr>
        <p:spPr bwMode="auto">
          <a:xfrm rot="0" flipH="0" flipV="0">
            <a:off x="6345416" y="4167539"/>
            <a:ext cx="1708917" cy="1585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14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Causal Self-Attention</a:t>
            </a:r>
            <a:endParaRPr sz="1400" b="0" i="0" u="none" strike="noStrike" cap="none" spc="0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 algn="ctr">
              <a:defRPr/>
            </a:pPr>
            <a:r>
              <a:rPr sz="1400">
                <a:solidFill>
                  <a:schemeClr val="bg1"/>
                </a:solidFill>
                <a:latin typeface="Cambria Math"/>
                <a:ea typeface="Cambria Math"/>
                <a:cs typeface="Cambria Math"/>
              </a:rPr>
              <a:t>↓</a:t>
            </a:r>
            <a:endParaRPr sz="140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algn="ctr">
              <a:defRPr/>
            </a:pPr>
            <a:r>
              <a:rPr lang="en-US" sz="14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MLP</a:t>
            </a:r>
            <a:endParaRPr sz="1400" b="0" i="0" u="none" strike="noStrike" cap="none" spc="0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 algn="ctr">
              <a:defRPr/>
            </a:pPr>
            <a:r>
              <a:rPr lang="en-US" sz="1400" b="0" i="0" u="none" strike="noStrike" cap="none" spc="0">
                <a:solidFill>
                  <a:schemeClr val="bg1"/>
                </a:solidFill>
                <a:latin typeface="Cambria Math"/>
                <a:ea typeface="Cambria Math"/>
                <a:cs typeface="Cambria Math"/>
              </a:rPr>
              <a:t>↓</a:t>
            </a:r>
            <a:endParaRPr sz="140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algn="ctr">
              <a:defRPr/>
            </a:pPr>
            <a:r>
              <a:rPr lang="en-US" sz="14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LayerNorm </a:t>
            </a:r>
            <a:endParaRPr sz="1400" b="0" i="0" u="none" strike="noStrike" cap="none" spc="0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 algn="ctr">
              <a:defRPr/>
            </a:pPr>
            <a:r>
              <a:rPr lang="en-US" sz="14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(×12 layers)</a:t>
            </a:r>
            <a:endParaRPr sz="140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1737888419" name=""/>
          <p:cNvSpPr/>
          <p:nvPr/>
        </p:nvSpPr>
        <p:spPr bwMode="auto">
          <a:xfrm rot="0" flipH="0" flipV="0">
            <a:off x="5848235" y="4637202"/>
            <a:ext cx="401544" cy="140072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30713319" name=""/>
          <p:cNvSpPr txBox="1"/>
          <p:nvPr/>
        </p:nvSpPr>
        <p:spPr bwMode="auto">
          <a:xfrm rot="0" flipH="0" flipV="0">
            <a:off x="8206014" y="5036447"/>
            <a:ext cx="1535968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1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[</a:t>
            </a:r>
            <a:r>
              <a:rPr lang="en-US" sz="1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EOS] </a:t>
            </a:r>
            <a:endParaRPr lang="en-US" sz="1400" b="0" i="0" u="none" strike="noStrike" cap="none" spc="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 algn="ctr">
              <a:defRPr/>
            </a:pPr>
            <a:r>
              <a:rPr lang="en-US" sz="1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Token Extraction</a:t>
            </a:r>
            <a:endParaRPr lang="en-US" sz="1400" b="0" i="0" u="none" strike="noStrike" cap="none" spc="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 algn="ctr">
              <a:defRPr/>
            </a:pPr>
            <a:r>
              <a:rPr lang="en-US" sz="1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1 x 512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99644029" name=""/>
          <p:cNvSpPr/>
          <p:nvPr/>
        </p:nvSpPr>
        <p:spPr bwMode="auto">
          <a:xfrm rot="0" flipH="0" flipV="0">
            <a:off x="8146457" y="4591574"/>
            <a:ext cx="401544" cy="140072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62581908" name=""/>
          <p:cNvSpPr/>
          <p:nvPr/>
        </p:nvSpPr>
        <p:spPr bwMode="auto">
          <a:xfrm rot="0" flipH="0" flipV="0">
            <a:off x="9441529" y="4586484"/>
            <a:ext cx="401544" cy="140072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73457564" name=""/>
          <p:cNvSpPr/>
          <p:nvPr/>
        </p:nvSpPr>
        <p:spPr bwMode="auto">
          <a:xfrm rot="5400000" flipH="0" flipV="0">
            <a:off x="9998390" y="4554569"/>
            <a:ext cx="515469" cy="343974"/>
          </a:xfrm>
          <a:prstGeom prst="cube">
            <a:avLst>
              <a:gd name="adj" fmla="val 25000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90522871" name=""/>
          <p:cNvSpPr txBox="1"/>
          <p:nvPr/>
        </p:nvSpPr>
        <p:spPr bwMode="auto">
          <a:xfrm rot="0" flipH="0" flipV="0">
            <a:off x="9515536" y="5061053"/>
            <a:ext cx="1536327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1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Projection Head </a:t>
            </a:r>
            <a:endParaRPr lang="en-US" sz="1400" b="0" i="0" u="none" strike="noStrike" cap="none" spc="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 algn="ctr">
              <a:defRPr/>
            </a:pPr>
            <a:r>
              <a:rPr lang="en-US" sz="1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·</a:t>
            </a:r>
            <a:r>
              <a:rPr lang="en-US" sz="1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L₂ Norm</a:t>
            </a:r>
            <a:endParaRPr lang="en-US" sz="1400" b="0" i="0" u="none" strike="noStrike" cap="none" spc="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 algn="ctr">
              <a:defRPr/>
            </a:pPr>
            <a:r>
              <a:rPr sz="1400">
                <a:latin typeface="Times New Roman"/>
                <a:cs typeface="Times New Roman"/>
              </a:rPr>
              <a:t>1 x 512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78656637" name=""/>
          <p:cNvSpPr/>
          <p:nvPr/>
        </p:nvSpPr>
        <p:spPr bwMode="auto">
          <a:xfrm rot="5400000" flipH="0" flipV="0">
            <a:off x="8661953" y="4559659"/>
            <a:ext cx="515469" cy="343974"/>
          </a:xfrm>
          <a:prstGeom prst="cube">
            <a:avLst>
              <a:gd name="adj" fmla="val 25000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24682676" name=""/>
          <p:cNvSpPr/>
          <p:nvPr/>
        </p:nvSpPr>
        <p:spPr bwMode="auto">
          <a:xfrm rot="0" flipH="0" flipV="0">
            <a:off x="10726207" y="4591574"/>
            <a:ext cx="401544" cy="140072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29953251" name=""/>
          <p:cNvSpPr/>
          <p:nvPr/>
        </p:nvSpPr>
        <p:spPr bwMode="auto">
          <a:xfrm rot="5400000" flipH="0" flipV="0">
            <a:off x="11274039" y="4559659"/>
            <a:ext cx="515468" cy="343974"/>
          </a:xfrm>
          <a:prstGeom prst="cube">
            <a:avLst>
              <a:gd name="adj" fmla="val 25000"/>
            </a:avLst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7574118" name=""/>
          <p:cNvSpPr txBox="1"/>
          <p:nvPr/>
        </p:nvSpPr>
        <p:spPr bwMode="auto">
          <a:xfrm rot="0" flipH="0" flipV="0">
            <a:off x="11010811" y="5143127"/>
            <a:ext cx="1043725" cy="68378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1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Text </a:t>
            </a:r>
            <a:endParaRPr lang="en-US" sz="1400" b="0" i="0" u="none" strike="noStrike" cap="none" spc="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 algn="ctr">
              <a:defRPr/>
            </a:pPr>
            <a:r>
              <a:rPr lang="en-US" sz="1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Embedding</a:t>
            </a:r>
            <a:endParaRPr lang="en-US" sz="1400" b="0" i="0" u="none" strike="noStrike" cap="none" spc="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 algn="ctr">
              <a:defRPr/>
            </a:pPr>
            <a:r>
              <a:rPr lang="en-US" sz="10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 ∈ ℝ⁵¹² ‖T‖ = 1</a:t>
            </a:r>
            <a:endParaRPr lang="en-US" sz="1400" b="0" i="0" u="none" strike="noStrike" cap="none" spc="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3831200" name=""/>
          <p:cNvSpPr/>
          <p:nvPr/>
        </p:nvSpPr>
        <p:spPr bwMode="auto">
          <a:xfrm rot="5400000" flipH="0" flipV="0">
            <a:off x="11359786" y="3165698"/>
            <a:ext cx="401544" cy="140072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17209461" name=""/>
          <p:cNvSpPr/>
          <p:nvPr/>
        </p:nvSpPr>
        <p:spPr bwMode="auto">
          <a:xfrm rot="5400000" flipH="1" flipV="0">
            <a:off x="11359786" y="4138669"/>
            <a:ext cx="401544" cy="140072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77309491" name=""/>
          <p:cNvSpPr/>
          <p:nvPr/>
        </p:nvSpPr>
        <p:spPr bwMode="auto">
          <a:xfrm rot="0" flipH="0" flipV="0">
            <a:off x="8919688" y="3498199"/>
            <a:ext cx="3193977" cy="455478"/>
          </a:xfrm>
          <a:prstGeom prst="flowChartAlternateProcess">
            <a:avLst/>
          </a:prstGeom>
          <a:solidFill>
            <a:schemeClr val="tx1">
              <a:lumMod val="65000"/>
              <a:lumOff val="35000"/>
            </a:schemeClr>
          </a:solidFill>
          <a:ln w="28575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l">
              <a:defRPr/>
            </a:pPr>
            <a:r>
              <a:rPr lang="en-US" sz="1400" b="0" i="0" u="none" strike="noStrike" cap="none" spc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</a:rPr>
              <a:t>Cosine Similarity Matrix · InfoNCE Loss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4019673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202842" y="999455"/>
            <a:ext cx="1515105" cy="2236277"/>
          </a:xfrm>
          <a:prstGeom prst="rect">
            <a:avLst/>
          </a:prstGeom>
        </p:spPr>
      </p:pic>
      <p:sp>
        <p:nvSpPr>
          <p:cNvPr id="1537901500" name=""/>
          <p:cNvSpPr txBox="1"/>
          <p:nvPr/>
        </p:nvSpPr>
        <p:spPr bwMode="auto">
          <a:xfrm rot="0" flipH="0" flipV="0">
            <a:off x="2531616" y="308160"/>
            <a:ext cx="6388071" cy="3661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18688722" name=""/>
          <p:cNvSpPr txBox="1"/>
          <p:nvPr/>
        </p:nvSpPr>
        <p:spPr bwMode="auto">
          <a:xfrm rot="0" flipH="0" flipV="0">
            <a:off x="2694523" y="140339"/>
            <a:ext cx="8033482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Qwen-VL - </a:t>
            </a:r>
            <a:r>
              <a:rPr lang="en-US" sz="1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Bai et al., Alibaba DAMO Academy, 2023</a:t>
            </a:r>
            <a:r>
              <a:rPr lang="en-US" sz="1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 ·  </a:t>
            </a:r>
            <a:r>
              <a:rPr lang="en-US" sz="1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ViT-bigG/14</a:t>
            </a:r>
            <a:endParaRPr lang="en-US" sz="16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619731575" name=""/>
          <p:cNvSpPr txBox="1"/>
          <p:nvPr/>
        </p:nvSpPr>
        <p:spPr bwMode="auto">
          <a:xfrm rot="0" flipH="0" flipV="0">
            <a:off x="68908" y="4236498"/>
            <a:ext cx="1575444" cy="1189080"/>
          </a:xfrm>
          <a:prstGeom prst="rect">
            <a:avLst/>
          </a:prstGeom>
          <a:noFill/>
          <a:ln w="28575">
            <a:solidFill>
              <a:schemeClr val="bg1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Times New Roman"/>
                <a:ea typeface="Times New Roman"/>
                <a:cs typeface="Times New Roman"/>
              </a:rPr>
              <a:t>“</a:t>
            </a:r>
            <a:r>
              <a:rPr lang="en-US" sz="1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An orange cat on a black chair.</a:t>
            </a:r>
            <a:r>
              <a:rPr sz="1400">
                <a:latin typeface="Times New Roman"/>
                <a:ea typeface="Times New Roman"/>
                <a:cs typeface="Times New Roman"/>
              </a:rPr>
              <a:t>”</a:t>
            </a:r>
            <a:endParaRPr sz="1600"/>
          </a:p>
          <a:p>
            <a:pPr algn="ctr">
              <a:defRPr/>
            </a:pPr>
            <a:r>
              <a:rPr sz="1600"/>
              <a:t>/</a:t>
            </a:r>
            <a:endParaRPr sz="1600"/>
          </a:p>
          <a:p>
            <a:pPr algn="ctr">
              <a:defRPr/>
            </a:pPr>
            <a:r>
              <a:rPr lang="en-US" sz="1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An orange cat on </a:t>
            </a:r>
            <a:r>
              <a:rPr lang="en-US" sz="1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a black chair.</a:t>
            </a:r>
            <a:r>
              <a:rPr lang="en-US" sz="1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1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[EOS]</a:t>
            </a:r>
            <a:endParaRPr sz="14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972960523" name=""/>
          <p:cNvSpPr txBox="1"/>
          <p:nvPr/>
        </p:nvSpPr>
        <p:spPr bwMode="auto">
          <a:xfrm rot="0" flipH="0" flipV="0">
            <a:off x="68911" y="3207418"/>
            <a:ext cx="1639598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1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448 × 448 × 3</a:t>
            </a:r>
            <a:endParaRPr sz="1600"/>
          </a:p>
        </p:txBody>
      </p:sp>
      <p:sp>
        <p:nvSpPr>
          <p:cNvPr id="1088492830" name=""/>
          <p:cNvSpPr/>
          <p:nvPr/>
        </p:nvSpPr>
        <p:spPr bwMode="auto">
          <a:xfrm rot="0" flipH="0" flipV="0">
            <a:off x="1737866" y="1867646"/>
            <a:ext cx="401544" cy="140072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aphicFrame>
        <p:nvGraphicFramePr>
          <p:cNvPr id="1938178254" name=""/>
          <p:cNvGraphicFramePr>
            <a:graphicFrameLocks xmlns:a="http://schemas.openxmlformats.org/drawingml/2006/main"/>
          </p:cNvGraphicFramePr>
          <p:nvPr/>
        </p:nvGraphicFramePr>
        <p:xfrm rot="0">
          <a:off x="2202842" y="999455"/>
          <a:ext cx="1512514" cy="219456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{5940675A-B579-460E-94D1-54222C63F5DA}</a:tableStyleId>
              </a:tblPr>
              <a:tblGrid>
                <a:gridCol w="378128"/>
                <a:gridCol w="378128"/>
                <a:gridCol w="378127"/>
                <a:gridCol w="378128"/>
              </a:tblGrid>
              <a:tr h="372713">
                <a:tc>
                  <a:txBody>
                    <a:bodyPr/>
                    <a:p>
                      <a:pPr>
                        <a:defRPr/>
                      </a:pP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72713">
                <a:tc>
                  <a:txBody>
                    <a:bodyPr/>
                    <a:p>
                      <a:pPr>
                        <a:defRPr/>
                      </a:pP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72713">
                <a:tc>
                  <a:txBody>
                    <a:bodyPr/>
                    <a:p>
                      <a:pPr>
                        <a:defRPr/>
                      </a:pP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72713">
                <a:tc>
                  <a:txBody>
                    <a:bodyPr/>
                    <a:p>
                      <a:pPr>
                        <a:defRPr/>
                      </a:pP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72713">
                <a:tc>
                  <a:txBody>
                    <a:bodyPr/>
                    <a:p>
                      <a:pPr>
                        <a:defRPr/>
                      </a:pP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72713">
                <a:tc>
                  <a:txBody>
                    <a:bodyPr/>
                    <a:p>
                      <a:pPr>
                        <a:defRPr/>
                      </a:pP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347159586" name=""/>
          <p:cNvSpPr txBox="1"/>
          <p:nvPr/>
        </p:nvSpPr>
        <p:spPr bwMode="auto">
          <a:xfrm rot="0" flipH="0" flipV="0">
            <a:off x="2139409" y="3207417"/>
            <a:ext cx="1647157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1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Split into 14×14 patches</a:t>
            </a:r>
            <a:endParaRPr sz="1600"/>
          </a:p>
        </p:txBody>
      </p:sp>
      <p:sp>
        <p:nvSpPr>
          <p:cNvPr id="627741427" name=""/>
          <p:cNvSpPr/>
          <p:nvPr/>
        </p:nvSpPr>
        <p:spPr bwMode="auto">
          <a:xfrm rot="0" flipH="0" flipV="0">
            <a:off x="4284217" y="1699557"/>
            <a:ext cx="765734" cy="644337"/>
          </a:xfrm>
          <a:prstGeom prst="cube">
            <a:avLst>
              <a:gd name="adj" fmla="val 25000"/>
            </a:avLst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143682" name=""/>
          <p:cNvSpPr/>
          <p:nvPr/>
        </p:nvSpPr>
        <p:spPr bwMode="auto">
          <a:xfrm rot="0" flipH="0" flipV="0">
            <a:off x="4436616" y="1851957"/>
            <a:ext cx="765734" cy="644337"/>
          </a:xfrm>
          <a:prstGeom prst="cube">
            <a:avLst>
              <a:gd name="adj" fmla="val 25000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78423309" name=""/>
          <p:cNvSpPr/>
          <p:nvPr/>
        </p:nvSpPr>
        <p:spPr bwMode="auto">
          <a:xfrm rot="0" flipH="0" flipV="0">
            <a:off x="4589016" y="2004357"/>
            <a:ext cx="765734" cy="644337"/>
          </a:xfrm>
          <a:prstGeom prst="cube">
            <a:avLst>
              <a:gd name="adj" fmla="val 25000"/>
            </a:avLst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75042983" name=""/>
          <p:cNvSpPr/>
          <p:nvPr/>
        </p:nvSpPr>
        <p:spPr bwMode="auto">
          <a:xfrm rot="0" flipH="0" flipV="0">
            <a:off x="4741417" y="2156757"/>
            <a:ext cx="765734" cy="644337"/>
          </a:xfrm>
          <a:prstGeom prst="cube">
            <a:avLst>
              <a:gd name="adj" fmla="val 25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11716642" name=""/>
          <p:cNvSpPr/>
          <p:nvPr/>
        </p:nvSpPr>
        <p:spPr bwMode="auto">
          <a:xfrm rot="0" flipH="0" flipV="0">
            <a:off x="3781530" y="1851957"/>
            <a:ext cx="401544" cy="140072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85431654" name=""/>
          <p:cNvSpPr txBox="1"/>
          <p:nvPr/>
        </p:nvSpPr>
        <p:spPr bwMode="auto">
          <a:xfrm rot="0" flipH="0" flipV="0">
            <a:off x="3850122" y="2841475"/>
            <a:ext cx="242233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1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1024 patches</a:t>
            </a:r>
            <a:r>
              <a:rPr lang="en-US" sz="12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1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× </a:t>
            </a:r>
            <a:r>
              <a:rPr lang="en-US" sz="1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1664 </a:t>
            </a:r>
            <a:endParaRPr lang="en-US" sz="1400" b="0" i="0" u="none" strike="noStrike" cap="none" spc="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 algn="ctr">
              <a:defRPr/>
            </a:pPr>
            <a:r>
              <a:rPr lang="en-US" sz="1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(Patch Embedding)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691307259" name=""/>
          <p:cNvSpPr/>
          <p:nvPr/>
        </p:nvSpPr>
        <p:spPr bwMode="auto">
          <a:xfrm rot="0" flipH="0" flipV="0">
            <a:off x="5783167" y="1876563"/>
            <a:ext cx="401544" cy="140072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966637" name=""/>
          <p:cNvSpPr/>
          <p:nvPr/>
        </p:nvSpPr>
        <p:spPr bwMode="auto">
          <a:xfrm rot="0" flipH="0" flipV="0">
            <a:off x="6345414" y="859117"/>
            <a:ext cx="2993775" cy="2241619"/>
          </a:xfrm>
          <a:prstGeom prst="flowChartAlternateProcess">
            <a:avLst/>
          </a:prstGeom>
          <a:solidFill>
            <a:schemeClr val="tx1">
              <a:lumMod val="65000"/>
              <a:lumOff val="35000"/>
            </a:schemeClr>
          </a:solidFill>
          <a:ln w="28575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300552274" name=""/>
          <p:cNvSpPr txBox="1"/>
          <p:nvPr/>
        </p:nvSpPr>
        <p:spPr bwMode="auto">
          <a:xfrm rot="0" flipH="0" flipV="0">
            <a:off x="6312960" y="1429133"/>
            <a:ext cx="1723675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lang="en-US" sz="1400" b="0" i="0" u="none" strike="noStrike" cap="none" spc="0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90684442" name=""/>
          <p:cNvSpPr/>
          <p:nvPr/>
        </p:nvSpPr>
        <p:spPr bwMode="auto">
          <a:xfrm rot="0" flipH="0" flipV="0">
            <a:off x="9396639" y="1851957"/>
            <a:ext cx="401544" cy="140072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09489225" name=""/>
          <p:cNvSpPr/>
          <p:nvPr/>
        </p:nvSpPr>
        <p:spPr bwMode="auto">
          <a:xfrm rot="5400000" flipH="0" flipV="0">
            <a:off x="9953499" y="1820043"/>
            <a:ext cx="515469" cy="343974"/>
          </a:xfrm>
          <a:prstGeom prst="cube">
            <a:avLst>
              <a:gd name="adj" fmla="val 25000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7025591" name=""/>
          <p:cNvSpPr txBox="1"/>
          <p:nvPr/>
        </p:nvSpPr>
        <p:spPr bwMode="auto">
          <a:xfrm rot="0" flipH="0" flipV="0">
            <a:off x="9515535" y="2326527"/>
            <a:ext cx="154136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1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1024 x 1664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612862238" name=""/>
          <p:cNvSpPr/>
          <p:nvPr/>
        </p:nvSpPr>
        <p:spPr bwMode="auto">
          <a:xfrm rot="0" flipH="0" flipV="0">
            <a:off x="10805843" y="1811617"/>
            <a:ext cx="401544" cy="140072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5524042" name=""/>
          <p:cNvSpPr/>
          <p:nvPr/>
        </p:nvSpPr>
        <p:spPr bwMode="auto">
          <a:xfrm rot="5400000" flipH="0" flipV="0">
            <a:off x="10972094" y="1438463"/>
            <a:ext cx="1278625" cy="343973"/>
          </a:xfrm>
          <a:prstGeom prst="cube">
            <a:avLst>
              <a:gd name="adj" fmla="val 25000"/>
            </a:avLst>
          </a:prstGeom>
          <a:solidFill>
            <a:srgbClr val="CF7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40250637" name=""/>
          <p:cNvSpPr txBox="1"/>
          <p:nvPr/>
        </p:nvSpPr>
        <p:spPr bwMode="auto">
          <a:xfrm rot="0" flipH="0" flipV="0">
            <a:off x="11091345" y="2368857"/>
            <a:ext cx="1041924" cy="5947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11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&lt;img&gt; + 256 visual tokens + 1 &lt;/img&gt;</a:t>
            </a:r>
            <a:endParaRPr lang="en-US" sz="1100" b="0" i="0" u="none" strike="noStrike" cap="none" spc="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847563594" name=""/>
          <p:cNvSpPr/>
          <p:nvPr/>
        </p:nvSpPr>
        <p:spPr bwMode="auto">
          <a:xfrm rot="0" flipH="0" flipV="0">
            <a:off x="1737866" y="4694911"/>
            <a:ext cx="401544" cy="140072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5698714" name=""/>
          <p:cNvSpPr/>
          <p:nvPr/>
        </p:nvSpPr>
        <p:spPr bwMode="auto">
          <a:xfrm rot="0" flipH="0" flipV="0">
            <a:off x="2287413" y="4432185"/>
            <a:ext cx="1562709" cy="1424481"/>
          </a:xfrm>
          <a:prstGeom prst="flowChartAlternateProcess">
            <a:avLst/>
          </a:prstGeom>
          <a:solidFill>
            <a:schemeClr val="tx1">
              <a:lumMod val="65000"/>
              <a:lumOff val="35000"/>
            </a:schemeClr>
          </a:solidFill>
          <a:ln w="28575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1600" b="0" i="0" u="none" strike="noStrike" cap="none" spc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</a:rPr>
              <a:t>BPE Tokenizer</a:t>
            </a:r>
            <a:br>
              <a:rPr sz="1000">
                <a:latin typeface="Times New Roman"/>
                <a:ea typeface="Times New Roman"/>
                <a:cs typeface="Times New Roman"/>
              </a:rPr>
            </a:br>
            <a:r>
              <a:rPr lang="en-US" sz="1000" b="0" i="0" u="none" strike="noStrike" cap="none" spc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</a:rPr>
              <a:t>Byte-Pair Encoding; vocabulary</a:t>
            </a:r>
            <a:r>
              <a:rPr lang="en-US" sz="18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100" b="0" i="0" u="none" strike="noStrike" cap="none" spc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</a:rPr>
              <a:t>size </a:t>
            </a:r>
            <a:r>
              <a:rPr lang="en-US" sz="1100" b="0" i="0" u="none" strike="noStrike" cap="none" spc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</a:rPr>
              <a:t>151,936 tokens</a:t>
            </a:r>
            <a:r>
              <a:rPr lang="en-US" sz="9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 +</a:t>
            </a:r>
            <a:br>
              <a:rPr lang="en-US" sz="9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</a:br>
            <a:r>
              <a:rPr sz="1200" b="1" i="0" u="none">
                <a:solidFill>
                  <a:srgbClr val="D8E8F8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1" i="0" u="none">
                <a:solidFill>
                  <a:srgbClr val="D8E8F8"/>
                </a:solidFill>
                <a:latin typeface="Arial"/>
                <a:ea typeface="Arial"/>
                <a:cs typeface="Arial"/>
              </a:rPr>
              <a:t>Embedding lookup</a:t>
            </a:r>
            <a:endParaRPr/>
          </a:p>
        </p:txBody>
      </p:sp>
      <p:sp>
        <p:nvSpPr>
          <p:cNvPr id="832770228" name=""/>
          <p:cNvSpPr/>
          <p:nvPr/>
        </p:nvSpPr>
        <p:spPr bwMode="auto">
          <a:xfrm rot="0" flipH="0" flipV="0">
            <a:off x="3982302" y="4624875"/>
            <a:ext cx="401544" cy="140072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9107031" name=""/>
          <p:cNvSpPr/>
          <p:nvPr/>
        </p:nvSpPr>
        <p:spPr bwMode="auto">
          <a:xfrm rot="0" flipH="0" flipV="0">
            <a:off x="4666365" y="4409478"/>
            <a:ext cx="765734" cy="644337"/>
          </a:xfrm>
          <a:prstGeom prst="cube">
            <a:avLst>
              <a:gd name="adj" fmla="val 25000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87331148" name=""/>
          <p:cNvSpPr txBox="1"/>
          <p:nvPr/>
        </p:nvSpPr>
        <p:spPr bwMode="auto">
          <a:xfrm rot="0" flipH="0" flipV="0">
            <a:off x="3848684" y="5120417"/>
            <a:ext cx="2402532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1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seq_len, 4096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70209917" name=""/>
          <p:cNvSpPr/>
          <p:nvPr/>
        </p:nvSpPr>
        <p:spPr bwMode="auto">
          <a:xfrm rot="0" flipH="0" flipV="0">
            <a:off x="6450656" y="4063727"/>
            <a:ext cx="1842627" cy="1844398"/>
          </a:xfrm>
          <a:prstGeom prst="flowChartAlternateProcess">
            <a:avLst/>
          </a:prstGeom>
          <a:solidFill>
            <a:schemeClr val="tx1">
              <a:lumMod val="65000"/>
              <a:lumOff val="35000"/>
            </a:schemeClr>
          </a:solidFill>
          <a:ln w="28575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358818841" name=""/>
          <p:cNvSpPr txBox="1"/>
          <p:nvPr/>
        </p:nvSpPr>
        <p:spPr bwMode="auto">
          <a:xfrm rot="0" flipH="0" flipV="0">
            <a:off x="6513372" y="4063726"/>
            <a:ext cx="1717556" cy="1844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16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Additional tokens</a:t>
            </a:r>
            <a:endParaRPr lang="en-US" sz="1600" b="0" i="0" u="none" strike="noStrike" cap="none" spc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algn="ctr">
              <a:defRPr/>
            </a:pPr>
            <a:r>
              <a:rPr lang="en-US" sz="11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&lt;img&gt;</a:t>
            </a:r>
            <a:endParaRPr lang="en-US" sz="1100" b="0" i="0" u="none" strike="noStrike" cap="none" spc="0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 algn="ctr">
              <a:defRPr/>
            </a:pPr>
            <a:r>
              <a:rPr lang="en-US" sz="11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...</a:t>
            </a:r>
            <a:endParaRPr lang="en-US" sz="1100" b="0" i="0" u="none" strike="noStrike" cap="none" spc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algn="ctr">
              <a:defRPr/>
            </a:pPr>
            <a:r>
              <a:rPr lang="en-US" sz="11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&lt;/img&gt;</a:t>
            </a:r>
            <a:endParaRPr lang="en-US" sz="1100" b="0" i="0" u="none" strike="noStrike" cap="none" spc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algn="ctr">
              <a:defRPr/>
            </a:pPr>
            <a:r>
              <a:rPr lang="en-US" sz="11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&lt;ref&gt;…&lt;/ref&gt;</a:t>
            </a:r>
            <a:endParaRPr lang="en-US" sz="1100" b="0" i="0" u="none" strike="noStrike" cap="none" spc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algn="ctr">
              <a:defRPr/>
            </a:pPr>
            <a:r>
              <a:rPr lang="en-US" sz="11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textual reference for grounding</a:t>
            </a:r>
            <a:endParaRPr lang="en-US" sz="1100" b="0" i="0" u="none" strike="noStrike" cap="none" spc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algn="ctr">
              <a:defRPr/>
            </a:pPr>
            <a:r>
              <a:rPr lang="en-US" sz="11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&lt;box&gt;…&lt;/box&gt;</a:t>
            </a:r>
            <a:endParaRPr lang="en-US" sz="1100" b="0" i="0" u="none" strike="noStrike" cap="none" spc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algn="ctr">
              <a:defRPr/>
            </a:pPr>
            <a:r>
              <a:rPr lang="en-US" sz="11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normalized coordinates (0–1000)</a:t>
            </a:r>
            <a:endParaRPr sz="110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1886279487" name=""/>
          <p:cNvSpPr/>
          <p:nvPr/>
        </p:nvSpPr>
        <p:spPr bwMode="auto">
          <a:xfrm rot="0" flipH="0" flipV="0">
            <a:off x="5848234" y="4637201"/>
            <a:ext cx="401544" cy="140072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274669" name=""/>
          <p:cNvSpPr/>
          <p:nvPr/>
        </p:nvSpPr>
        <p:spPr bwMode="auto">
          <a:xfrm rot="5400000" flipH="0" flipV="0">
            <a:off x="11359787" y="3165698"/>
            <a:ext cx="401544" cy="140072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44655609" name=""/>
          <p:cNvSpPr/>
          <p:nvPr/>
        </p:nvSpPr>
        <p:spPr bwMode="auto">
          <a:xfrm rot="0" flipH="0" flipV="0">
            <a:off x="8919688" y="3498198"/>
            <a:ext cx="3193975" cy="565528"/>
          </a:xfrm>
          <a:prstGeom prst="flowChartAlternateProcess">
            <a:avLst/>
          </a:prstGeom>
          <a:solidFill>
            <a:schemeClr val="tx1">
              <a:lumMod val="65000"/>
              <a:lumOff val="35000"/>
            </a:schemeClr>
          </a:solidFill>
          <a:ln w="28575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l">
              <a:defRPr/>
            </a:pPr>
            <a:r>
              <a:rPr lang="en-US" sz="1100" b="0" i="0" u="none" strike="noStrike" cap="none" spc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</a:rPr>
              <a:t>total: [258 + seq_len, 4096]  ·  1 &lt;img&gt; + 256 visual tokens + 1 &lt;/img&gt; + N text tokens</a:t>
            </a:r>
            <a:endParaRPr/>
          </a:p>
        </p:txBody>
      </p:sp>
      <p:pic>
        <p:nvPicPr>
          <p:cNvPr id="136712755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31156" y="971137"/>
            <a:ext cx="1515106" cy="2236278"/>
          </a:xfrm>
          <a:prstGeom prst="rect">
            <a:avLst/>
          </a:prstGeom>
        </p:spPr>
      </p:pic>
      <p:sp>
        <p:nvSpPr>
          <p:cNvPr id="384484161" name=""/>
          <p:cNvSpPr txBox="1"/>
          <p:nvPr/>
        </p:nvSpPr>
        <p:spPr bwMode="auto">
          <a:xfrm rot="0" flipH="0" flipV="0">
            <a:off x="6409515" y="843768"/>
            <a:ext cx="1724396" cy="2225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39821" indent="-239821" algn="l">
              <a:buFont typeface="Arial"/>
              <a:buChar char="–"/>
              <a:defRPr/>
            </a:pPr>
            <a:r>
              <a:rPr lang="en-US" sz="14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LayerNorm</a:t>
            </a:r>
            <a:endParaRPr sz="140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239821" indent="-239821" algn="l">
              <a:buFont typeface="Arial"/>
              <a:buChar char="–"/>
              <a:defRPr/>
            </a:pPr>
            <a:r>
              <a:rPr lang="en-US" sz="14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Q, K, V proj</a:t>
            </a:r>
            <a:endParaRPr sz="140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239821" indent="-239821" algn="l">
              <a:buFont typeface="Arial"/>
              <a:buChar char="–"/>
              <a:defRPr/>
            </a:pPr>
            <a:r>
              <a:rPr lang="en-US" sz="14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Split heads</a:t>
            </a:r>
            <a:endParaRPr sz="140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239821" indent="-239821" algn="l">
              <a:buFont typeface="Arial"/>
              <a:buChar char="–"/>
              <a:defRPr/>
            </a:pPr>
            <a:r>
              <a:rPr lang="en-US" sz="14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Self-Attention</a:t>
            </a:r>
            <a:endParaRPr lang="en-US" sz="1400" b="0" i="0" u="none" strike="noStrike" cap="none" spc="0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 algn="l">
              <a:defRPr/>
            </a:pPr>
            <a:r>
              <a:rPr lang="en-US" sz="14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+ Residual</a:t>
            </a:r>
            <a:endParaRPr lang="en-US" sz="1400" b="0" i="0" u="none" strike="noStrike" cap="none" spc="0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 marL="239821" indent="-239821" algn="l">
              <a:buFont typeface="Arial"/>
              <a:buChar char="–"/>
              <a:defRPr/>
            </a:pPr>
            <a:r>
              <a:rPr lang="en-US" sz="14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LayerNorm</a:t>
            </a:r>
            <a:endParaRPr lang="en-US" sz="1400" b="0" i="0" u="none" strike="noStrike" cap="none" spc="0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 marL="239821" indent="-239821" algn="l">
              <a:buFont typeface="Arial"/>
              <a:buChar char="–"/>
              <a:defRPr/>
            </a:pPr>
            <a:r>
              <a:rPr lang="en-US" sz="14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FFN Gate (GELU)</a:t>
            </a:r>
            <a:endParaRPr lang="en-US" sz="1400" b="0" i="0" u="none" strike="noStrike" cap="none" spc="0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 marL="239821" indent="-239821" algn="l">
              <a:buFont typeface="Arial"/>
              <a:buChar char="–"/>
              <a:defRPr/>
            </a:pPr>
            <a:r>
              <a:rPr lang="en-US" sz="14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FFN Down</a:t>
            </a:r>
            <a:endParaRPr lang="en-US" sz="1400" b="0" i="0" u="none" strike="noStrike" cap="none" spc="0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 algn="l">
              <a:defRPr/>
            </a:pPr>
            <a:r>
              <a:rPr lang="en-US" sz="14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+ Residual</a:t>
            </a:r>
            <a:endParaRPr sz="140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1904955653" name=""/>
          <p:cNvSpPr txBox="1"/>
          <p:nvPr/>
        </p:nvSpPr>
        <p:spPr bwMode="auto">
          <a:xfrm rot="0" flipH="0" flipV="0">
            <a:off x="7023354" y="3123839"/>
            <a:ext cx="1540287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1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x48 blocks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7550688" name=""/>
          <p:cNvSpPr txBox="1"/>
          <p:nvPr/>
        </p:nvSpPr>
        <p:spPr bwMode="auto">
          <a:xfrm rot="0" flipH="0" flipV="0">
            <a:off x="7821067" y="843768"/>
            <a:ext cx="1665992" cy="1798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39821" indent="-239821" algn="l">
              <a:buFont typeface="Arial"/>
              <a:buChar char="–"/>
              <a:defRPr/>
            </a:pPr>
            <a:r>
              <a:rPr lang="en-US" sz="14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256 queries</a:t>
            </a:r>
            <a:endParaRPr lang="en-US" sz="1400" b="0" i="0" u="none" strike="noStrike" cap="none" spc="0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 algn="l">
              <a:defRPr/>
            </a:pPr>
            <a:r>
              <a:rPr lang="en-US" sz="14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+ </a:t>
            </a:r>
            <a:r>
              <a:rPr lang="en-US" sz="14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relative 2D positional bias 32×32 → interpolated</a:t>
            </a:r>
            <a:endParaRPr lang="en-US" sz="1400" b="0" i="0" u="none" strike="noStrike" cap="none" spc="0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 marL="239821" indent="-239821" algn="l">
              <a:buFont typeface="Arial"/>
              <a:buChar char="–"/>
              <a:defRPr/>
            </a:pPr>
            <a:r>
              <a:rPr lang="en-US" sz="14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K, V projections</a:t>
            </a:r>
            <a:endParaRPr lang="en-US" sz="1400" b="0" i="0" u="none" strike="noStrike" cap="none" spc="0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 marL="239821" indent="-239821" algn="l">
              <a:buFont typeface="Arial"/>
              <a:buChar char="–"/>
              <a:defRPr/>
            </a:pPr>
            <a:r>
              <a:rPr lang="en-US" sz="14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Cross-Attention</a:t>
            </a:r>
            <a:endParaRPr lang="en-US" sz="1400" b="0" i="0" u="none" strike="noStrike" cap="none" spc="0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 marL="239821" indent="-239821" algn="l">
              <a:buFont typeface="Arial"/>
              <a:buChar char="–"/>
              <a:defRPr/>
            </a:pPr>
            <a:r>
              <a:rPr lang="en-US" sz="14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FFN + Residual</a:t>
            </a:r>
            <a:endParaRPr sz="140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577612625" name=""/>
          <p:cNvSpPr/>
          <p:nvPr/>
        </p:nvSpPr>
        <p:spPr bwMode="auto">
          <a:xfrm rot="0" flipH="0" flipV="0">
            <a:off x="9619665" y="2516609"/>
            <a:ext cx="172356" cy="317499"/>
          </a:xfrm>
          <a:prstGeom prst="curvedRightArrow">
            <a:avLst>
              <a:gd name="adj1" fmla="val 25000"/>
              <a:gd name="adj2" fmla="val 50000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37109845" name=""/>
          <p:cNvSpPr txBox="1"/>
          <p:nvPr/>
        </p:nvSpPr>
        <p:spPr bwMode="auto">
          <a:xfrm rot="0" flipH="0" flipV="0">
            <a:off x="9487060" y="2688895"/>
            <a:ext cx="1538125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1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256 × 4096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383556482" name=""/>
          <p:cNvSpPr/>
          <p:nvPr/>
        </p:nvSpPr>
        <p:spPr bwMode="auto">
          <a:xfrm rot="0" flipH="0" flipV="0">
            <a:off x="8438428" y="4218213"/>
            <a:ext cx="2041071" cy="843642"/>
          </a:xfrm>
          <a:prstGeom prst="bentUpArrow">
            <a:avLst>
              <a:gd name="adj1" fmla="val 25000"/>
              <a:gd name="adj2" fmla="val 25000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ONLYOFFICE/9.3.1.8</Application>
  <PresentationFormat>On-screen Show (4:3)</PresentationFormat>
  <Paragraphs>0</Paragraphs>
  <Slides>3</Slides>
  <Notes>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Theme 1</vt:lpstr>
      <vt:lpstr>Slide 1</vt:lpstr>
      <vt:lpstr>Slide 2</vt:lpstr>
      <vt:lpstr>Slide 3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11</cp:revision>
  <dcterms:modified xsi:type="dcterms:W3CDTF">2026-07-10T18:50:24Z</dcterms:modified>
</cp:coreProperties>
</file>